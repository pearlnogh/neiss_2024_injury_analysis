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8229600" cx="14630400"/>
  <p:notesSz cx="8229600" cy="14630400"/>
  <p:embeddedFontLst>
    <p:embeddedFont>
      <p:font typeface="Inconsolata"/>
      <p:regular r:id="rId18"/>
      <p:bold r:id="rId19"/>
    </p:embeddedFont>
    <p:embeddedFont>
      <p:font typeface="Montserrat Black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t8zh4amcO5ruR8zjzafFRrerT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815459-F712-4EA3-865B-61B08A8C241E}">
  <a:tblStyle styleId="{31815459-F712-4EA3-865B-61B08A8C24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Black-bold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MontserratBlack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consolata-bold.fntdata"/><Relationship Id="rId6" Type="http://schemas.openxmlformats.org/officeDocument/2006/relationships/slide" Target="slides/slide1.xml"/><Relationship Id="rId18" Type="http://schemas.openxmlformats.org/officeDocument/2006/relationships/font" Target="fonts/Inconsolat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Age is the strongest predictor in our model.</a:t>
            </a:r>
            <a:br>
              <a:rPr lang="en-US"/>
            </a:br>
            <a:r>
              <a:rPr lang="en-US"/>
              <a:t> Elderly patients are about 9 times more likely to be admitted.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Overall, admission is primarily driven by age and injury severity.</a:t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Our baseline model failed to capture admitted cases,  with recall only at 24%.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After applying class weighting, recall improved significantly to 79%. With enhanced features, it further increased to 81%.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shows that both imbalance handling and feature engineering are effective.</a:t>
            </a:r>
            <a:br>
              <a:rPr lang="en-US"/>
            </a:br>
            <a:br>
              <a:rPr lang="en-US"/>
            </a:br>
            <a:r>
              <a:rPr lang="en-US"/>
              <a:t>This reflects a deliberate trade-off between precision and recall, prioritizing high-risk detection.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However, precision dropped to 30%, indicating more false positives.</a:t>
            </a:r>
            <a:br>
              <a:rPr lang="en-US"/>
            </a:br>
            <a:r>
              <a:rPr lang="en-US"/>
              <a:t>In healthcare, this trade-off is acceptable,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because missing high-risk patients is more critical than over-predicting.</a:t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6c0b1d6d6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96c0b1d6d6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Age is the strongest predictor of admission risk,</a:t>
            </a: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 with elderly patients having over 9 times higher odds of being admitted.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Injury characteristics such as body part and diagnosis further contribute</a:t>
            </a: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 to understanding admission risk.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Finally, our model achieves strong performance with high recall,</a:t>
            </a: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 allowing early identification of high-risk patients.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This aligns well with real-world healthcare priorities,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where missing high-risk patients must be minimized.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96c0b1d6d6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Future improvements include enhancing narrative features using NLP,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incorporating patient health conditions,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improving model precision,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and deploying the model as a real-time clinical decision tool.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6c0b1d6d6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6c0b1d6d6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96c0b1d6d6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hyperlink" Target="https://neiss2024injuryanalysis-ed-admission-risk-predictor.streamlit.app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5630450" y="2157125"/>
            <a:ext cx="9144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 Black"/>
              <a:buNone/>
            </a:pPr>
            <a:r>
              <a:rPr b="1" i="0" lang="en-US" sz="48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NEISS 2024 Injury Analysis</a:t>
            </a:r>
            <a:endParaRPr b="0" i="0" sz="480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5823350" y="3829775"/>
            <a:ext cx="8642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DAB304 Healthcare Analytics </a:t>
            </a:r>
            <a:endParaRPr sz="2400">
              <a:solidFill>
                <a:srgbClr val="151617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Professor: A. Sodiq Shofoluwe</a:t>
            </a:r>
            <a:endParaRPr b="0" i="0" sz="240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Ameenat Ali · Foluso Ojo · Gurpreet Kaur · Pei-Ru Chen</a:t>
            </a:r>
            <a:endParaRPr b="0" i="0" sz="2400" u="none" cap="none" strike="noStrike"/>
          </a:p>
        </p:txBody>
      </p:sp>
      <p:pic>
        <p:nvPicPr>
          <p:cNvPr descr="preencoded.png"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9065" y="6037898"/>
            <a:ext cx="1871305" cy="98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07426" y="7207000"/>
            <a:ext cx="18713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93800" y="2114425"/>
            <a:ext cx="13589700" cy="29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6150"/>
              <a:buFont typeface="Montserrat Black"/>
              <a:buNone/>
            </a:pPr>
            <a:r>
              <a:rPr b="1" i="0" lang="en-US" sz="40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Hospital admission is a proxy for injury severity </a:t>
            </a:r>
            <a:endParaRPr b="1" i="0" sz="4000" u="none" cap="none" strike="noStrike">
              <a:solidFill>
                <a:srgbClr val="15161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6150"/>
              <a:buFont typeface="Montserrat Black"/>
              <a:buNone/>
            </a:pPr>
            <a:r>
              <a:rPr b="1" i="0" lang="en-US" sz="40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— but what drives it?</a:t>
            </a:r>
            <a:endParaRPr b="0" i="0" sz="40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793790" y="5389245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Understanding which patient and incident characteristics predict hospital admission helps clinicians prioritize triage, allocate resources, and intervene early. </a:t>
            </a:r>
            <a:endParaRPr b="0" i="0" sz="24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-33636" t="0"/>
          <a:stretch/>
        </p:blipFill>
        <p:spPr>
          <a:xfrm>
            <a:off x="634953" y="4140425"/>
            <a:ext cx="11605724" cy="39078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482550" y="64550"/>
            <a:ext cx="63501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 Black"/>
              <a:buNone/>
            </a:pP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Project Overview</a:t>
            </a:r>
            <a:endParaRPr b="1" sz="4800">
              <a:solidFill>
                <a:srgbClr val="15161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273" y="1227012"/>
            <a:ext cx="3538896" cy="235862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5296950" y="1520325"/>
            <a:ext cx="8706000" cy="1143300"/>
          </a:xfrm>
          <a:prstGeom prst="roundRect">
            <a:avLst>
              <a:gd fmla="val 1242" name="adj"/>
            </a:avLst>
          </a:prstGeom>
          <a:solidFill>
            <a:srgbClr val="D7D9DA"/>
          </a:solidFill>
          <a:ln>
            <a:noFill/>
          </a:ln>
        </p:spPr>
        <p:txBody>
          <a:bodyPr anchorCtr="0" anchor="ctr" bIns="104350" lIns="104350" spcFirstLastPara="1" rIns="104350" wrap="square" tIns="104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1477" y="1641671"/>
            <a:ext cx="210214" cy="1682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5776218" y="1623733"/>
            <a:ext cx="1682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Montserrat Black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Objective</a:t>
            </a:r>
            <a:endParaRPr b="0" i="0" sz="240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5776218" y="2188092"/>
            <a:ext cx="8092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Inconsolata"/>
              <a:buNone/>
            </a:pPr>
            <a:r>
              <a:rPr lang="en-US" sz="1800">
                <a:latin typeface="Inconsolata"/>
                <a:ea typeface="Inconsolata"/>
                <a:cs typeface="Inconsolata"/>
                <a:sym typeface="Inconsolata"/>
              </a:rPr>
              <a:t>Identify factors linked to hospital admission after ED injury visits.</a:t>
            </a:r>
            <a:endParaRPr b="0" i="0" sz="1800" u="none" cap="none" strike="noStrike"/>
          </a:p>
        </p:txBody>
      </p:sp>
      <p:sp>
        <p:nvSpPr>
          <p:cNvPr id="82" name="Google Shape;82;p3"/>
          <p:cNvSpPr/>
          <p:nvPr/>
        </p:nvSpPr>
        <p:spPr>
          <a:xfrm>
            <a:off x="634960" y="3757493"/>
            <a:ext cx="1507808" cy="184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Montserrat Black"/>
              <a:buNone/>
            </a:pPr>
            <a:r>
              <a:rPr b="1" i="0" lang="en-US" sz="11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Analytical Pipeline</a:t>
            </a:r>
            <a:endParaRPr b="0" i="0" sz="115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1891441" y="4407799"/>
            <a:ext cx="151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i="0" lang="en-US" sz="1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Overview</a:t>
            </a:r>
            <a:endParaRPr b="0" i="0" sz="14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1891441" y="4709448"/>
            <a:ext cx="15198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6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Project goals and dataset summary</a:t>
            </a:r>
            <a:endParaRPr b="0" i="0" sz="115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3394468" y="7267332"/>
            <a:ext cx="15282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i="0" lang="en-US" sz="1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Data Cleaning</a:t>
            </a:r>
            <a:endParaRPr b="0" i="0" sz="14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3394468" y="7568982"/>
            <a:ext cx="15282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6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Prepare and standardize NEISS records</a:t>
            </a:r>
            <a:endParaRPr b="0" i="0" sz="115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4880794" y="4307205"/>
            <a:ext cx="151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i="0" lang="en-US" sz="1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EDA</a:t>
            </a:r>
            <a:endParaRPr b="0" i="0" sz="14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4880794" y="4608854"/>
            <a:ext cx="15198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6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Explore distributions and key patterns</a:t>
            </a:r>
            <a:endParaRPr b="0" i="0" sz="115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6383821" y="7221277"/>
            <a:ext cx="1519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i="0" lang="en-US" sz="1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Statistical Analysis</a:t>
            </a:r>
            <a:endParaRPr b="0" i="0" sz="145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6383821" y="7757773"/>
            <a:ext cx="15198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6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Assess factors linked to admission</a:t>
            </a:r>
            <a:endParaRPr b="0" i="0" sz="1150" u="none" cap="none" strike="noStrike"/>
          </a:p>
        </p:txBody>
      </p:sp>
      <p:pic>
        <p:nvPicPr>
          <p:cNvPr id="91" name="Google Shape;91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07426" y="7207000"/>
            <a:ext cx="18713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5296950" y="2830387"/>
            <a:ext cx="8706000" cy="1143300"/>
          </a:xfrm>
          <a:prstGeom prst="roundRect">
            <a:avLst>
              <a:gd fmla="val 1242" name="adj"/>
            </a:avLst>
          </a:prstGeom>
          <a:solidFill>
            <a:srgbClr val="D7D9DA"/>
          </a:solidFill>
          <a:ln>
            <a:noFill/>
          </a:ln>
        </p:spPr>
        <p:txBody>
          <a:bodyPr anchorCtr="0" anchor="ctr" bIns="104350" lIns="104350" spcFirstLastPara="1" rIns="104350" wrap="square" tIns="104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1477" y="2951733"/>
            <a:ext cx="210214" cy="168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5776218" y="2933795"/>
            <a:ext cx="1682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Montserrat Black"/>
              <a:buNone/>
            </a:pPr>
            <a:r>
              <a:rPr b="1" lang="en-US" sz="2400">
                <a:latin typeface="Montserrat Black"/>
                <a:ea typeface="Montserrat Black"/>
                <a:cs typeface="Montserrat Black"/>
                <a:sym typeface="Montserrat Black"/>
              </a:rPr>
              <a:t>Data</a:t>
            </a:r>
            <a:endParaRPr b="0" i="0" sz="240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5776218" y="3299379"/>
            <a:ext cx="8092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Inconsolata"/>
              <a:buNone/>
            </a:pPr>
            <a:r>
              <a:rPr lang="en-US" sz="1800">
                <a:latin typeface="Inconsolata"/>
                <a:ea typeface="Inconsolata"/>
                <a:cs typeface="Inconsolata"/>
                <a:sym typeface="Inconsolata"/>
              </a:rPr>
              <a:t>2024 NEISS dataset — a nationally representative sample of emergency department injury visits across the United States.</a:t>
            </a:r>
            <a:endParaRPr sz="18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Inconsolata"/>
              <a:buNone/>
            </a:pPr>
            <a:r>
              <a:t/>
            </a:r>
            <a:endParaRPr sz="1800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3">
            <a:alphaModFix/>
          </a:blip>
          <a:srcRect b="0" l="58136" r="2815" t="0"/>
          <a:stretch/>
        </p:blipFill>
        <p:spPr>
          <a:xfrm flipH="1">
            <a:off x="9124948" y="4140425"/>
            <a:ext cx="3390902" cy="390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31651" y="5095038"/>
            <a:ext cx="18713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8366944" y="4288955"/>
            <a:ext cx="151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lang="en-US" sz="145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Model</a:t>
            </a:r>
            <a:endParaRPr b="0" i="0" sz="1450" u="none" cap="none" strike="noStrike"/>
          </a:p>
        </p:txBody>
      </p:sp>
      <p:sp>
        <p:nvSpPr>
          <p:cNvPr id="99" name="Google Shape;99;p3"/>
          <p:cNvSpPr/>
          <p:nvPr/>
        </p:nvSpPr>
        <p:spPr>
          <a:xfrm>
            <a:off x="8366944" y="4590604"/>
            <a:ext cx="15198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6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lang="en-US" sz="115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Support early risk detection</a:t>
            </a:r>
            <a:endParaRPr b="0" i="0" sz="1150" u="none" cap="none" strike="noStrike"/>
          </a:p>
        </p:txBody>
      </p:sp>
      <p:pic>
        <p:nvPicPr>
          <p:cNvPr id="100" name="Google Shape;100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20538" y="5018700"/>
            <a:ext cx="1012637" cy="11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10231925" y="7241976"/>
            <a:ext cx="15198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lang="en-US" sz="145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APP</a:t>
            </a:r>
            <a:endParaRPr b="0" i="0" sz="145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10231921" y="7640223"/>
            <a:ext cx="15198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6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lang="en-US" sz="115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Catch high-risk patients</a:t>
            </a:r>
            <a:endParaRPr b="0" i="0" sz="1150" u="none" cap="none" strike="noStrike"/>
          </a:p>
        </p:txBody>
      </p:sp>
      <p:pic>
        <p:nvPicPr>
          <p:cNvPr id="103" name="Google Shape;103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17588" y="6162000"/>
            <a:ext cx="948474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793800" y="1600199"/>
            <a:ext cx="24099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50"/>
              <a:buFont typeface="Montserrat Black"/>
              <a:buNone/>
            </a:pPr>
            <a:r>
              <a:rPr b="1" i="0" lang="en-US" sz="24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Sample</a:t>
            </a:r>
            <a:endParaRPr b="0" i="0" sz="2400" u="none" cap="none" strike="noStrike"/>
          </a:p>
        </p:txBody>
      </p:sp>
      <p:sp>
        <p:nvSpPr>
          <p:cNvPr id="110" name="Google Shape;110;p4"/>
          <p:cNvSpPr/>
          <p:nvPr/>
        </p:nvSpPr>
        <p:spPr>
          <a:xfrm>
            <a:off x="793800" y="2209296"/>
            <a:ext cx="62862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00"/>
              <a:buFont typeface="Inconsolata"/>
              <a:buNone/>
            </a:pPr>
            <a:r>
              <a:rPr b="1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361,672</a:t>
            </a:r>
            <a:r>
              <a:rPr b="0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ED injury cases from the National Electronic Injury Surveillance System (NEISS), with 2</a:t>
            </a:r>
            <a:r>
              <a:rPr lang="en-US" sz="24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5</a:t>
            </a:r>
            <a:r>
              <a:rPr b="0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variables spanning demographics, injury type, incident context, and outcome.</a:t>
            </a:r>
            <a:endParaRPr b="0" i="0" sz="24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793800" y="5267550"/>
            <a:ext cx="32637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50"/>
              <a:buFont typeface="Montserrat Black"/>
              <a:buNone/>
            </a:pPr>
            <a:r>
              <a:rPr b="1" i="0" lang="en-US" sz="24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Outcome Variable</a:t>
            </a:r>
            <a:endParaRPr b="0" i="0" sz="240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793800" y="5937722"/>
            <a:ext cx="6286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00"/>
              <a:buFont typeface="Inconsolata"/>
              <a:buNone/>
            </a:pPr>
            <a:r>
              <a:rPr b="0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Disposition</a:t>
            </a:r>
            <a:r>
              <a:rPr lang="en-US" sz="24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: </a:t>
            </a:r>
            <a:r>
              <a:rPr b="1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admitted vs. non-admitted</a:t>
            </a:r>
            <a:r>
              <a:rPr b="0" i="0" lang="en-US" sz="2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serves as the binary target for all statistical and predictive analyses.</a:t>
            </a:r>
            <a:endParaRPr b="0" i="0" sz="2400" u="none" cap="none" strike="noStrike"/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456" y="2071807"/>
            <a:ext cx="5343287" cy="534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456" y="2071807"/>
            <a:ext cx="5343287" cy="534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07426" y="7207000"/>
            <a:ext cx="18713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489150" y="64550"/>
            <a:ext cx="5226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 Black"/>
              <a:buNone/>
            </a:pP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Data </a:t>
            </a: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Overview</a:t>
            </a:r>
            <a:endParaRPr b="1" sz="4800">
              <a:solidFill>
                <a:srgbClr val="15161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564" y="1244175"/>
            <a:ext cx="5888284" cy="3867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7029" y="1233129"/>
            <a:ext cx="5820200" cy="38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793790" y="5301020"/>
            <a:ext cx="6465808" cy="1079302"/>
          </a:xfrm>
          <a:prstGeom prst="roundRect">
            <a:avLst>
              <a:gd fmla="val 847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960120" y="5467350"/>
            <a:ext cx="1984653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Montserrat Black"/>
              <a:buNone/>
            </a:pPr>
            <a:r>
              <a:rPr b="1" i="0" lang="en-US" sz="15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Age Effect</a:t>
            </a:r>
            <a:endParaRPr b="0" i="0" sz="155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960120" y="5782032"/>
            <a:ext cx="6133148" cy="431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Inconsolata"/>
              <a:buNone/>
            </a:pPr>
            <a:r>
              <a:rPr b="0" i="0" lang="en-US" sz="12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Admission rates rise sharply with age — patients 65+ show the highest rates, exceeding 30%.</a:t>
            </a:r>
            <a:endParaRPr b="0" i="0" sz="12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7370683" y="5301020"/>
            <a:ext cx="6465927" cy="1079302"/>
          </a:xfrm>
          <a:prstGeom prst="roundRect">
            <a:avLst>
              <a:gd fmla="val 847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537013" y="5467350"/>
            <a:ext cx="1984653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Montserrat Black"/>
              <a:buNone/>
            </a:pPr>
            <a:r>
              <a:rPr b="1" i="0" lang="en-US" sz="15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Fire Involvement</a:t>
            </a:r>
            <a:endParaRPr b="0" i="0" sz="15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7537013" y="5782032"/>
            <a:ext cx="6133267" cy="431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Inconsolata"/>
              <a:buNone/>
            </a:pPr>
            <a:r>
              <a:rPr b="0" i="0" lang="en-US" sz="12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Fire-attended cases correlate with substantially elevated admission risk across all age groups.</a:t>
            </a:r>
            <a:endParaRPr b="0" i="0" sz="125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793790" y="6491407"/>
            <a:ext cx="6465808" cy="1079302"/>
          </a:xfrm>
          <a:prstGeom prst="roundRect">
            <a:avLst>
              <a:gd fmla="val 847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60120" y="6657737"/>
            <a:ext cx="1984653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Montserrat Black"/>
              <a:buNone/>
            </a:pPr>
            <a:r>
              <a:rPr b="1" i="0" lang="en-US" sz="15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Injury Severity</a:t>
            </a:r>
            <a:endParaRPr b="0" i="0" sz="155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960120" y="6972419"/>
            <a:ext cx="6133148" cy="431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Inconsolata"/>
              <a:buNone/>
            </a:pPr>
            <a:r>
              <a:rPr b="0" i="0" lang="en-US" sz="12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Injuries affecting large body areas are strong predictors of admission over minor localized injuries.</a:t>
            </a:r>
            <a:endParaRPr b="0" i="0" sz="125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7370683" y="6491407"/>
            <a:ext cx="6465927" cy="1079302"/>
          </a:xfrm>
          <a:prstGeom prst="roundRect">
            <a:avLst>
              <a:gd fmla="val 847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537013" y="6657737"/>
            <a:ext cx="1984653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Montserrat Black"/>
              <a:buNone/>
            </a:pPr>
            <a:r>
              <a:rPr b="1" i="0" lang="en-US" sz="15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Weak Predictors</a:t>
            </a:r>
            <a:endParaRPr b="0" i="0" sz="15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7537013" y="6972419"/>
            <a:ext cx="6133267" cy="431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Inconsolata"/>
              <a:buNone/>
            </a:pPr>
            <a:r>
              <a:rPr b="0" i="0" lang="en-US" sz="12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Sex, race, ethnicity, and substance use showed minimal independent effect on admission outcome.</a:t>
            </a:r>
            <a:endParaRPr b="0" i="0" sz="1250" u="none" cap="none" strike="noStrike"/>
          </a:p>
        </p:txBody>
      </p:sp>
      <p:pic>
        <p:nvPicPr>
          <p:cNvPr id="136" name="Google Shape;13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07425" y="7701450"/>
            <a:ext cx="1871300" cy="4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476250" y="64550"/>
            <a:ext cx="88011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 Black"/>
              <a:buNone/>
            </a:pP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Exploratory Data Analysis</a:t>
            </a:r>
            <a:endParaRPr b="1" sz="4800">
              <a:solidFill>
                <a:srgbClr val="15161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463391" y="3780948"/>
            <a:ext cx="98829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200"/>
              <a:buFont typeface="Montserrat Black"/>
              <a:buNone/>
            </a:pP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Hypothesis Testing</a:t>
            </a:r>
            <a:endParaRPr b="0" i="0" sz="480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363470" y="4969400"/>
            <a:ext cx="6959400" cy="2560500"/>
          </a:xfrm>
          <a:prstGeom prst="roundRect">
            <a:avLst>
              <a:gd fmla="val 380" name="adj"/>
            </a:avLst>
          </a:prstGeom>
          <a:solidFill>
            <a:srgbClr val="D7D9DA"/>
          </a:solidFill>
          <a:ln>
            <a:noFill/>
          </a:ln>
        </p:spPr>
        <p:txBody>
          <a:bodyPr anchorCtr="0" anchor="ctr" bIns="97300" lIns="97300" spcFirstLastPara="1" rIns="97300" wrap="square" tIns="9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03" y="5267442"/>
            <a:ext cx="355319" cy="28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1173451" y="5240450"/>
            <a:ext cx="5922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5"/>
              <a:buFont typeface="Montserrat Black"/>
              <a:buNone/>
            </a:pPr>
            <a:r>
              <a:rPr b="1" i="0" lang="en-US" sz="2235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Numerical — T-test</a:t>
            </a:r>
            <a:endParaRPr b="0" i="0" sz="2235" u="none" cap="none" strike="noStrike"/>
          </a:p>
        </p:txBody>
      </p:sp>
      <p:sp>
        <p:nvSpPr>
          <p:cNvPr id="147" name="Google Shape;147;p6"/>
          <p:cNvSpPr/>
          <p:nvPr/>
        </p:nvSpPr>
        <p:spPr>
          <a:xfrm>
            <a:off x="1173457" y="5810177"/>
            <a:ext cx="59220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6"/>
              <a:buFont typeface="Inconsolat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Age differed significantly between admitted and non-admitted patients (p &lt; 0.001), with a large effect size (Cohen's d ≈ 1.00), confirming age as a clinically meaningful predictor.</a:t>
            </a:r>
            <a:endParaRPr b="0" i="0" sz="180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7885629" y="4969400"/>
            <a:ext cx="6381300" cy="2560500"/>
          </a:xfrm>
          <a:prstGeom prst="roundRect">
            <a:avLst>
              <a:gd fmla="val 380" name="adj"/>
            </a:avLst>
          </a:prstGeom>
          <a:solidFill>
            <a:srgbClr val="D7D9DA"/>
          </a:solidFill>
          <a:ln>
            <a:noFill/>
          </a:ln>
        </p:spPr>
        <p:txBody>
          <a:bodyPr anchorCtr="0" anchor="ctr" bIns="97300" lIns="97300" spcFirstLastPara="1" rIns="97300" wrap="square" tIns="9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2962" y="5267442"/>
            <a:ext cx="355319" cy="28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8695628" y="5240450"/>
            <a:ext cx="5343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5"/>
              <a:buFont typeface="Montserrat Black"/>
              <a:buNone/>
            </a:pPr>
            <a:r>
              <a:rPr b="1" i="0" lang="en-US" sz="2235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Categorical — Chi-square</a:t>
            </a:r>
            <a:endParaRPr b="0" i="0" sz="2235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8695616" y="5810177"/>
            <a:ext cx="53439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6"/>
              <a:buFont typeface="Inconsolat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All categorical variables were statistically significant. The strongest associations were with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age group</a:t>
            </a:r>
            <a:r>
              <a:rPr b="0" i="0" lang="en-US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 (Cramér's V = 0.322),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body part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 (V = 0.266), and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diagnosis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 (V = 0.255).</a:t>
            </a:r>
            <a:endParaRPr b="0" i="0" sz="1800" u="none" cap="none" strike="noStrike"/>
          </a:p>
        </p:txBody>
      </p:sp>
      <p:pic>
        <p:nvPicPr>
          <p:cNvPr id="152" name="Google Shape;15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7425" y="7529900"/>
            <a:ext cx="1871300" cy="6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4630398" cy="352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634950" y="1771813"/>
            <a:ext cx="787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200"/>
              <a:buFont typeface="Montserrat Black"/>
              <a:buNone/>
            </a:pPr>
            <a:r>
              <a:rPr b="1" i="0" lang="en-US" sz="36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Age Is the Dominant Predictor</a:t>
            </a:r>
            <a:endParaRPr b="0" i="0" sz="360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885054" y="3046092"/>
            <a:ext cx="3467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5550"/>
              <a:buFont typeface="Montserrat Black"/>
              <a:buNone/>
            </a:pPr>
            <a:r>
              <a:rPr b="1" i="0" lang="en-US" sz="55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9.3×</a:t>
            </a:r>
            <a:endParaRPr b="0" i="0" sz="555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981138" y="4018237"/>
            <a:ext cx="3275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Higher Odds — Elderly</a:t>
            </a:r>
            <a:endParaRPr b="0" i="0" sz="210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793863" y="4477588"/>
            <a:ext cx="38034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Patients aged 65+ are 9.3× more likely to be admitted.</a:t>
            </a:r>
            <a:endParaRPr b="0" i="0" sz="18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4791138" y="3046092"/>
            <a:ext cx="3467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5550"/>
              <a:buFont typeface="Montserrat Black"/>
              <a:buNone/>
            </a:pPr>
            <a:r>
              <a:rPr b="1" i="0" lang="en-US" sz="55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#1</a:t>
            </a:r>
            <a:endParaRPr b="0" i="0" sz="5550" u="none" cap="none" strike="noStrike"/>
          </a:p>
        </p:txBody>
      </p:sp>
      <p:sp>
        <p:nvSpPr>
          <p:cNvPr id="165" name="Google Shape;165;p7"/>
          <p:cNvSpPr/>
          <p:nvPr/>
        </p:nvSpPr>
        <p:spPr>
          <a:xfrm>
            <a:off x="5178329" y="4018237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Top Predictor</a:t>
            </a:r>
            <a:endParaRPr b="0" i="0" sz="210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4864128" y="4477588"/>
            <a:ext cx="38037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Age is the strongest driver of hospital admission.</a:t>
            </a:r>
            <a:endParaRPr b="0" i="0" sz="1800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157200" y="5915250"/>
            <a:ext cx="88296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Inconsolata"/>
              <a:buChar char="●"/>
            </a:pP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Secondary factors</a:t>
            </a: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:</a:t>
            </a: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including injury body part, diagnosis</a:t>
            </a: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b="0" i="0" sz="1800" u="none" cap="none" strike="noStrike">
              <a:solidFill>
                <a:srgbClr val="151617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Inconsolata"/>
              <a:buChar char="●"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</a:t>
            </a: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ocation</a:t>
            </a: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&amp;</a:t>
            </a: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fire involvement</a:t>
            </a: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:</a:t>
            </a: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contributed meaningful but smaller effects. </a:t>
            </a:r>
            <a:endParaRPr b="0" i="0" sz="1800" u="none" cap="none" strike="noStrike">
              <a:solidFill>
                <a:srgbClr val="151617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Inconsolata"/>
              <a:buChar char="●"/>
            </a:pP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Admission risk is primarily driven by </a:t>
            </a:r>
            <a:r>
              <a:rPr b="1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age and injury severity</a:t>
            </a: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, not other demographic or substance use variables.</a:t>
            </a:r>
            <a:endParaRPr b="0" i="0" sz="180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457200" y="0"/>
            <a:ext cx="68961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 Black"/>
              <a:buNone/>
            </a:pP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Logistic Regression</a:t>
            </a:r>
            <a:endParaRPr b="1" sz="4800">
              <a:solidFill>
                <a:srgbClr val="15161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9101" y="7239000"/>
            <a:ext cx="18713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8142429" y="1272232"/>
            <a:ext cx="6081000" cy="1627200"/>
          </a:xfrm>
          <a:prstGeom prst="roundRect">
            <a:avLst>
              <a:gd fmla="val 9507" name="adj"/>
            </a:avLst>
          </a:prstGeom>
          <a:solidFill>
            <a:srgbClr val="F8ECE4"/>
          </a:solidFill>
          <a:ln cap="flat" cmpd="sng" w="322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8647">
              <a:srgbClr val="151617"/>
            </a:outerShdw>
          </a:effectLst>
        </p:spPr>
        <p:txBody>
          <a:bodyPr anchorCtr="0" anchor="ctr" bIns="128875" lIns="128875" spcFirstLastPara="1" rIns="128875" wrap="square" tIns="12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" name="Google Shape;176;p8"/>
          <p:cNvSpPr/>
          <p:nvPr/>
        </p:nvSpPr>
        <p:spPr>
          <a:xfrm>
            <a:off x="8110201" y="1272232"/>
            <a:ext cx="129000" cy="1627200"/>
          </a:xfrm>
          <a:prstGeom prst="roundRect">
            <a:avLst>
              <a:gd fmla="val 1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128875" lIns="128875" spcFirstLastPara="1" rIns="128875" wrap="square" tIns="12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" name="Google Shape;177;p8"/>
          <p:cNvSpPr/>
          <p:nvPr/>
        </p:nvSpPr>
        <p:spPr>
          <a:xfrm>
            <a:off x="8495073" y="1528200"/>
            <a:ext cx="3406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85"/>
              <a:buFont typeface="Montserrat Black"/>
              <a:buNone/>
            </a:pPr>
            <a:r>
              <a:rPr b="1" lang="en-US" sz="1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Recall (Admitted)</a:t>
            </a:r>
            <a:r>
              <a:rPr b="1" lang="en-US" sz="1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: 0.24</a:t>
            </a:r>
            <a:endParaRPr b="0" i="0" sz="18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8495085" y="2034449"/>
            <a:ext cx="54723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62"/>
              <a:buFont typeface="Inconsolata"/>
              <a:buNone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B</a:t>
            </a: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aseline model</a:t>
            </a: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fails to capture admitted cases. </a:t>
            </a:r>
            <a:endParaRPr b="0" i="0" sz="180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8142429" y="3055998"/>
            <a:ext cx="6081000" cy="1931700"/>
          </a:xfrm>
          <a:prstGeom prst="roundRect">
            <a:avLst>
              <a:gd fmla="val 8008" name="adj"/>
            </a:avLst>
          </a:prstGeom>
          <a:solidFill>
            <a:srgbClr val="F8ECE4"/>
          </a:solidFill>
          <a:ln cap="flat" cmpd="sng" w="322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8647">
              <a:srgbClr val="151617"/>
            </a:outerShdw>
          </a:effectLst>
        </p:spPr>
        <p:txBody>
          <a:bodyPr anchorCtr="0" anchor="ctr" bIns="128875" lIns="128875" spcFirstLastPara="1" rIns="128875" wrap="square" tIns="12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" name="Google Shape;180;p8"/>
          <p:cNvSpPr/>
          <p:nvPr/>
        </p:nvSpPr>
        <p:spPr>
          <a:xfrm>
            <a:off x="8110201" y="3055998"/>
            <a:ext cx="129000" cy="1931700"/>
          </a:xfrm>
          <a:prstGeom prst="roundRect">
            <a:avLst>
              <a:gd fmla="val 1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128875" lIns="128875" spcFirstLastPara="1" rIns="128875" wrap="square" tIns="12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8"/>
          <p:cNvSpPr/>
          <p:nvPr/>
        </p:nvSpPr>
        <p:spPr>
          <a:xfrm>
            <a:off x="8495073" y="3311975"/>
            <a:ext cx="4116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85"/>
              <a:buFont typeface="Montserrat Black"/>
              <a:buNone/>
            </a:pPr>
            <a:r>
              <a:rPr b="1" i="0" lang="en-US" sz="18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Recall (Admitted): 0.</a:t>
            </a:r>
            <a:r>
              <a:rPr b="1" lang="en-US" sz="1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79 -&gt; 0.81</a:t>
            </a:r>
            <a:endParaRPr b="0" i="0" sz="180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8495085" y="3818215"/>
            <a:ext cx="54723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62"/>
              <a:buFont typeface="Inconsolata"/>
              <a:buNone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Class weighting dramatically improves recall.</a:t>
            </a:r>
            <a:endParaRPr sz="1800">
              <a:solidFill>
                <a:srgbClr val="151617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62"/>
              <a:buFont typeface="Inconsolata"/>
              <a:buNone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Final model prioritizes high-risk detection.</a:t>
            </a:r>
            <a:endParaRPr sz="1800">
              <a:solidFill>
                <a:srgbClr val="151617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142429" y="5144249"/>
            <a:ext cx="6081000" cy="1931700"/>
          </a:xfrm>
          <a:prstGeom prst="roundRect">
            <a:avLst>
              <a:gd fmla="val 8008" name="adj"/>
            </a:avLst>
          </a:prstGeom>
          <a:solidFill>
            <a:srgbClr val="F8ECE4"/>
          </a:solidFill>
          <a:ln cap="flat" cmpd="sng" w="322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8647">
              <a:srgbClr val="151617"/>
            </a:outerShdw>
          </a:effectLst>
        </p:spPr>
        <p:txBody>
          <a:bodyPr anchorCtr="0" anchor="ctr" bIns="128875" lIns="128875" spcFirstLastPara="1" rIns="128875" wrap="square" tIns="12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4" name="Google Shape;184;p8"/>
          <p:cNvSpPr/>
          <p:nvPr/>
        </p:nvSpPr>
        <p:spPr>
          <a:xfrm>
            <a:off x="8110201" y="5144249"/>
            <a:ext cx="129000" cy="1931700"/>
          </a:xfrm>
          <a:prstGeom prst="roundRect">
            <a:avLst>
              <a:gd fmla="val 1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128875" lIns="128875" spcFirstLastPara="1" rIns="128875" wrap="square" tIns="12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" name="Google Shape;185;p8"/>
          <p:cNvSpPr/>
          <p:nvPr/>
        </p:nvSpPr>
        <p:spPr>
          <a:xfrm>
            <a:off x="8495085" y="5400223"/>
            <a:ext cx="2907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85"/>
              <a:buFont typeface="Montserrat Black"/>
              <a:buNone/>
            </a:pPr>
            <a:r>
              <a:rPr b="1" i="0" lang="en-US" sz="18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Precision Trade-off</a:t>
            </a:r>
            <a:endParaRPr b="0" i="0" sz="180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8495085" y="5906466"/>
            <a:ext cx="54723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62"/>
              <a:buFont typeface="Inconsolata"/>
              <a:buNone/>
            </a:pPr>
            <a:r>
              <a:rPr b="0" i="0" lang="en-US" sz="18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Low precision (0.30) is an acceptable trade-off when the goal is to catch high-risk patients and avoid missed admissions.</a:t>
            </a:r>
            <a:endParaRPr b="0" i="0" sz="180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438150" y="64550"/>
            <a:ext cx="70677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300"/>
              <a:buFont typeface="Montserrat Black"/>
              <a:buNone/>
            </a:pP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Model Performance</a:t>
            </a:r>
            <a:endParaRPr b="1" sz="4800">
              <a:solidFill>
                <a:srgbClr val="15161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88" name="Google Shape;18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3950" y="1272237"/>
            <a:ext cx="6634649" cy="50654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8"/>
          <p:cNvGraphicFramePr/>
          <p:nvPr/>
        </p:nvGraphicFramePr>
        <p:xfrm>
          <a:off x="997425" y="655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{31815459-F712-4EA3-865B-61B08A8C241E}</a:tableStyleId>
              </a:tblPr>
              <a:tblGrid>
                <a:gridCol w="2355900"/>
                <a:gridCol w="2355900"/>
                <a:gridCol w="2355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Recall (Admitted)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ROC-AUC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Baseline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0.2422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0.8487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Class Weighted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0.7904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0.8505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Enhanced Features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0.8127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0.8562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/>
          <p:nvPr/>
        </p:nvSpPr>
        <p:spPr>
          <a:xfrm>
            <a:off x="470525" y="203600"/>
            <a:ext cx="974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300"/>
              <a:buFont typeface="Montserrat Black"/>
              <a:buNone/>
            </a:pPr>
            <a:r>
              <a:rPr b="1" i="0" lang="en-US" sz="48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From Model to Clinical Tool</a:t>
            </a:r>
            <a:endParaRPr b="0" i="0" sz="4800" u="none" cap="none" strike="noStrike"/>
          </a:p>
        </p:txBody>
      </p:sp>
      <p:pic>
        <p:nvPicPr>
          <p:cNvPr id="196" name="Google Shape;19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7425" y="7666000"/>
            <a:ext cx="1871300" cy="5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70300"/>
            <a:ext cx="9520824" cy="7006899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8" name="Google Shape;19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08624" y="1962288"/>
            <a:ext cx="4652376" cy="456459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10223063" y="6756213"/>
            <a:ext cx="38235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lang="en-US" sz="700" u="sng">
                <a:solidFill>
                  <a:schemeClr val="hlink"/>
                </a:solidFill>
                <a:latin typeface="Inconsolata"/>
                <a:ea typeface="Inconsolata"/>
                <a:cs typeface="Inconsolata"/>
                <a:sym typeface="Inconsolata"/>
                <a:hlinkClick r:id="rId6"/>
              </a:rPr>
              <a:t>https://neiss2024injuryanalysis-ed-admission-risk-predictor.streamlit.app/</a:t>
            </a:r>
            <a:r>
              <a:rPr lang="en-US" sz="7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b="0" i="0" sz="7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5" name="Google Shape;205;g396c0b1d6d6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6c0b1d6d6_0_66"/>
          <p:cNvSpPr/>
          <p:nvPr/>
        </p:nvSpPr>
        <p:spPr>
          <a:xfrm>
            <a:off x="474715" y="164998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 Black"/>
              <a:buNone/>
            </a:pP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Conclusion </a:t>
            </a:r>
            <a:endParaRPr b="1" sz="4800">
              <a:solidFill>
                <a:srgbClr val="15161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7" name="Google Shape;207;g396c0b1d6d6_0_66"/>
          <p:cNvSpPr/>
          <p:nvPr/>
        </p:nvSpPr>
        <p:spPr>
          <a:xfrm>
            <a:off x="793790" y="5909786"/>
            <a:ext cx="7556400" cy="1685100"/>
          </a:xfrm>
          <a:prstGeom prst="roundRect">
            <a:avLst>
              <a:gd fmla="val 543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921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" name="Google Shape;208;g396c0b1d6d6_0_66"/>
          <p:cNvSpPr/>
          <p:nvPr/>
        </p:nvSpPr>
        <p:spPr>
          <a:xfrm>
            <a:off x="1028225" y="6144225"/>
            <a:ext cx="6001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i="0" lang="en-US" sz="24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Model Supports Early Detection</a:t>
            </a:r>
            <a:endParaRPr b="0" i="0" sz="2400" u="none" cap="none" strike="noStrike"/>
          </a:p>
        </p:txBody>
      </p:sp>
      <p:sp>
        <p:nvSpPr>
          <p:cNvPr id="209" name="Google Shape;209;g396c0b1d6d6_0_66"/>
          <p:cNvSpPr/>
          <p:nvPr/>
        </p:nvSpPr>
        <p:spPr>
          <a:xfrm>
            <a:off x="1028224" y="6634639"/>
            <a:ext cx="7087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Model enables early identification of high-risk patients.</a:t>
            </a:r>
            <a:endParaRPr b="0" i="0" sz="1800" u="none" cap="none" strike="noStrike"/>
          </a:p>
        </p:txBody>
      </p:sp>
      <p:sp>
        <p:nvSpPr>
          <p:cNvPr id="210" name="Google Shape;210;g396c0b1d6d6_0_66"/>
          <p:cNvSpPr/>
          <p:nvPr/>
        </p:nvSpPr>
        <p:spPr>
          <a:xfrm>
            <a:off x="793765" y="1585436"/>
            <a:ext cx="7556400" cy="1685100"/>
          </a:xfrm>
          <a:prstGeom prst="roundRect">
            <a:avLst>
              <a:gd fmla="val 543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921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" name="Google Shape;211;g396c0b1d6d6_0_66"/>
          <p:cNvSpPr/>
          <p:nvPr/>
        </p:nvSpPr>
        <p:spPr>
          <a:xfrm>
            <a:off x="1028199" y="1819870"/>
            <a:ext cx="4888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lang="en-US" sz="24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Age Dominates Risk</a:t>
            </a:r>
            <a:endParaRPr b="0" i="0" sz="2400" u="none" cap="none" strike="noStrike"/>
          </a:p>
        </p:txBody>
      </p:sp>
      <p:sp>
        <p:nvSpPr>
          <p:cNvPr id="212" name="Google Shape;212;g396c0b1d6d6_0_66"/>
          <p:cNvSpPr/>
          <p:nvPr/>
        </p:nvSpPr>
        <p:spPr>
          <a:xfrm>
            <a:off x="1028199" y="2310289"/>
            <a:ext cx="7087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Age is the strongest predictor of admission risk.</a:t>
            </a:r>
            <a:endParaRPr b="0" i="0" sz="1800" u="none" cap="none" strike="noStrike"/>
          </a:p>
        </p:txBody>
      </p:sp>
      <p:sp>
        <p:nvSpPr>
          <p:cNvPr id="213" name="Google Shape;213;g396c0b1d6d6_0_66"/>
          <p:cNvSpPr/>
          <p:nvPr/>
        </p:nvSpPr>
        <p:spPr>
          <a:xfrm>
            <a:off x="793740" y="3747611"/>
            <a:ext cx="7556400" cy="1685100"/>
          </a:xfrm>
          <a:prstGeom prst="roundRect">
            <a:avLst>
              <a:gd fmla="val 543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921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4" name="Google Shape;214;g396c0b1d6d6_0_66"/>
          <p:cNvSpPr/>
          <p:nvPr/>
        </p:nvSpPr>
        <p:spPr>
          <a:xfrm>
            <a:off x="1028174" y="3982045"/>
            <a:ext cx="4888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lang="en-US" sz="24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Injury Characteristics Matter</a:t>
            </a:r>
            <a:endParaRPr b="0" i="0" sz="2400" u="none" cap="none" strike="noStrike"/>
          </a:p>
        </p:txBody>
      </p:sp>
      <p:sp>
        <p:nvSpPr>
          <p:cNvPr id="215" name="Google Shape;215;g396c0b1d6d6_0_66"/>
          <p:cNvSpPr/>
          <p:nvPr/>
        </p:nvSpPr>
        <p:spPr>
          <a:xfrm>
            <a:off x="1028174" y="4472464"/>
            <a:ext cx="7087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lang="en-US" sz="180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Injury characteristics provide additional predictive power.</a:t>
            </a:r>
            <a:endParaRPr b="0" i="0" sz="18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436631" y="201150"/>
            <a:ext cx="9297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 Black"/>
              <a:buNone/>
            </a:pPr>
            <a:r>
              <a:rPr b="1" lang="en-US" sz="4800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Future Recommendation</a:t>
            </a:r>
            <a:endParaRPr b="1" sz="4800">
              <a:solidFill>
                <a:srgbClr val="15161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28445" y="945025"/>
            <a:ext cx="34500" cy="7284600"/>
          </a:xfrm>
          <a:prstGeom prst="roundRect">
            <a:avLst>
              <a:gd fmla="val 636279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147975" lIns="147975" spcFirstLastPara="1" rIns="147975" wrap="square" tIns="147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/>
          </a:p>
        </p:txBody>
      </p:sp>
      <p:sp>
        <p:nvSpPr>
          <p:cNvPr id="223" name="Google Shape;223;p10"/>
          <p:cNvSpPr/>
          <p:nvPr/>
        </p:nvSpPr>
        <p:spPr>
          <a:xfrm>
            <a:off x="270678" y="1254297"/>
            <a:ext cx="550500" cy="618600"/>
          </a:xfrm>
          <a:prstGeom prst="roundRect">
            <a:avLst>
              <a:gd fmla="val 40002" name="adj"/>
            </a:avLst>
          </a:prstGeom>
          <a:solidFill>
            <a:srgbClr val="6D9EEB"/>
          </a:solidFill>
          <a:ln>
            <a:noFill/>
          </a:ln>
          <a:effectLst>
            <a:reflection blurRad="0" dir="5400000" dist="61664" endA="0" endPos="30000" fadeDir="5400012" kx="0" rotWithShape="0" algn="bl" stPos="0" sy="-100000" ky="0"/>
          </a:effectLst>
        </p:spPr>
        <p:txBody>
          <a:bodyPr anchorCtr="0" anchor="ctr" bIns="147975" lIns="147975" spcFirstLastPara="1" rIns="147975" wrap="square" tIns="147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30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786212" y="3137673"/>
            <a:ext cx="733800" cy="38700"/>
          </a:xfrm>
          <a:prstGeom prst="roundRect">
            <a:avLst>
              <a:gd fmla="val 636279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7975" lIns="147975" spcFirstLastPara="1" rIns="147975" wrap="square" tIns="147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/>
          </a:p>
        </p:txBody>
      </p:sp>
      <p:sp>
        <p:nvSpPr>
          <p:cNvPr id="225" name="Google Shape;225;p10"/>
          <p:cNvSpPr/>
          <p:nvPr/>
        </p:nvSpPr>
        <p:spPr>
          <a:xfrm>
            <a:off x="270678" y="2873599"/>
            <a:ext cx="550500" cy="618600"/>
          </a:xfrm>
          <a:prstGeom prst="roundRect">
            <a:avLst>
              <a:gd fmla="val 40002" name="adj"/>
            </a:avLst>
          </a:prstGeom>
          <a:solidFill>
            <a:srgbClr val="6D9EEB"/>
          </a:solidFill>
          <a:ln>
            <a:noFill/>
          </a:ln>
          <a:effectLst>
            <a:reflection blurRad="0" dir="5400000" dist="61664" endA="0" endPos="30000" fadeDir="5400012" kx="0" rotWithShape="0" algn="bl" stPos="0" sy="-100000" ky="0"/>
          </a:effectLst>
        </p:spPr>
        <p:txBody>
          <a:bodyPr anchorCtr="0" anchor="ctr" bIns="147975" lIns="147975" spcFirstLastPara="1" rIns="147975" wrap="square" tIns="147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30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270678" y="4441330"/>
            <a:ext cx="550500" cy="618600"/>
          </a:xfrm>
          <a:prstGeom prst="roundRect">
            <a:avLst>
              <a:gd fmla="val 40002" name="adj"/>
            </a:avLst>
          </a:prstGeom>
          <a:solidFill>
            <a:srgbClr val="6D9EEB"/>
          </a:solidFill>
          <a:ln>
            <a:noFill/>
          </a:ln>
          <a:effectLst>
            <a:reflection blurRad="0" dir="5400000" dist="61664" endA="0" endPos="30000" fadeDir="5400012" kx="0" rotWithShape="0" algn="bl" stPos="0" sy="-100000" ky="0"/>
          </a:effectLst>
        </p:spPr>
        <p:txBody>
          <a:bodyPr anchorCtr="0" anchor="ctr" bIns="147975" lIns="147975" spcFirstLastPara="1" rIns="147975" wrap="square" tIns="147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30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786212" y="6324715"/>
            <a:ext cx="733800" cy="38700"/>
          </a:xfrm>
          <a:prstGeom prst="roundRect">
            <a:avLst>
              <a:gd fmla="val 636279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7975" lIns="147975" spcFirstLastPara="1" rIns="147975" wrap="square" tIns="147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/>
          </a:p>
        </p:txBody>
      </p:sp>
      <p:sp>
        <p:nvSpPr>
          <p:cNvPr id="228" name="Google Shape;228;p10"/>
          <p:cNvSpPr/>
          <p:nvPr/>
        </p:nvSpPr>
        <p:spPr>
          <a:xfrm>
            <a:off x="270678" y="6009072"/>
            <a:ext cx="550500" cy="618600"/>
          </a:xfrm>
          <a:prstGeom prst="roundRect">
            <a:avLst>
              <a:gd fmla="val 40002" name="adj"/>
            </a:avLst>
          </a:prstGeom>
          <a:solidFill>
            <a:srgbClr val="6D9EEB"/>
          </a:solidFill>
          <a:ln>
            <a:noFill/>
          </a:ln>
          <a:effectLst>
            <a:reflection blurRad="0" dir="5400000" dist="61664" endA="0" endPos="30000" fadeDir="5400012" kx="0" rotWithShape="0" algn="bl" stPos="0" sy="-100000" ky="0"/>
          </a:effectLst>
        </p:spPr>
        <p:txBody>
          <a:bodyPr anchorCtr="0" anchor="ctr" bIns="147975" lIns="147975" spcFirstLastPara="1" rIns="147975" wrap="square" tIns="147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sz="30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9" name="Google Shape;229;p10"/>
          <p:cNvCxnSpPr/>
          <p:nvPr/>
        </p:nvCxnSpPr>
        <p:spPr>
          <a:xfrm flipH="1" rot="10800000">
            <a:off x="728993" y="4734224"/>
            <a:ext cx="825000" cy="16500"/>
          </a:xfrm>
          <a:prstGeom prst="straightConnector1">
            <a:avLst/>
          </a:prstGeom>
          <a:noFill/>
          <a:ln cap="flat" cmpd="sng" w="3082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10"/>
          <p:cNvSpPr/>
          <p:nvPr/>
        </p:nvSpPr>
        <p:spPr>
          <a:xfrm>
            <a:off x="1720038" y="1338401"/>
            <a:ext cx="12689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3561"/>
              <a:buFont typeface="Fraunces ExtraBold"/>
              <a:buNone/>
            </a:pPr>
            <a:r>
              <a:rPr lang="en-US" sz="3000">
                <a:solidFill>
                  <a:srgbClr val="22222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Enhance narrative features using NLP</a:t>
            </a:r>
            <a:endParaRPr sz="3000">
              <a:solidFill>
                <a:srgbClr val="22222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720055" y="2873594"/>
            <a:ext cx="10610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3561"/>
              <a:buFont typeface="Fraunces ExtraBold"/>
              <a:buNone/>
            </a:pPr>
            <a:r>
              <a:rPr lang="en-US" sz="3000">
                <a:solidFill>
                  <a:srgbClr val="22222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Incorporate patient health conditions</a:t>
            </a:r>
            <a:endParaRPr sz="3000">
              <a:solidFill>
                <a:srgbClr val="22222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720055" y="4534939"/>
            <a:ext cx="106104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3561"/>
              <a:buFont typeface="Fraunces ExtraBold"/>
              <a:buNone/>
            </a:pPr>
            <a:r>
              <a:rPr lang="en-US" sz="3000">
                <a:solidFill>
                  <a:srgbClr val="22222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Improve model precision</a:t>
            </a:r>
            <a:endParaRPr sz="3000">
              <a:solidFill>
                <a:srgbClr val="22222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952700" y="1935813"/>
            <a:ext cx="11006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832"/>
              <a:buFont typeface="Nobile"/>
              <a:buNone/>
            </a:pPr>
            <a:r>
              <a:rPr lang="en-US" sz="1800">
                <a:solidFill>
                  <a:srgbClr val="222222"/>
                </a:solidFill>
                <a:latin typeface="Inconsolata"/>
                <a:ea typeface="Inconsolata"/>
                <a:cs typeface="Inconsolata"/>
                <a:sym typeface="Inconsolata"/>
              </a:rPr>
              <a:t>Extract clinically meaningful signals from injury narratives, such as indicators of severity (e.g., loss of consciousness, severe bleeding).</a:t>
            </a:r>
            <a:endParaRPr sz="1800">
              <a:solidFill>
                <a:srgbClr val="22222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905726" y="3523338"/>
            <a:ext cx="11172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832"/>
              <a:buFont typeface="Nobile"/>
              <a:buNone/>
            </a:pPr>
            <a:r>
              <a:rPr lang="en-US" sz="1800">
                <a:solidFill>
                  <a:srgbClr val="222222"/>
                </a:solidFill>
                <a:latin typeface="Inconsolata"/>
                <a:ea typeface="Inconsolata"/>
                <a:cs typeface="Inconsolata"/>
                <a:sym typeface="Inconsolata"/>
              </a:rPr>
              <a:t>Integrate comorbidity data (e.g., diabetes, cardiovascular disease) to improve prediction of admission risk.</a:t>
            </a:r>
            <a:endParaRPr sz="1800">
              <a:solidFill>
                <a:srgbClr val="22222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735978" y="5092978"/>
            <a:ext cx="11172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832"/>
              <a:buFont typeface="Nobile"/>
              <a:buNone/>
            </a:pPr>
            <a:r>
              <a:rPr lang="en-US" sz="1800">
                <a:solidFill>
                  <a:srgbClr val="222222"/>
                </a:solidFill>
                <a:latin typeface="Inconsolata"/>
                <a:ea typeface="Inconsolata"/>
                <a:cs typeface="Inconsolata"/>
                <a:sym typeface="Inconsolata"/>
              </a:rPr>
              <a:t>Optimize the balance between recall and precision through threshold tuning and resampling techniques.</a:t>
            </a:r>
            <a:endParaRPr sz="1800">
              <a:solidFill>
                <a:srgbClr val="22222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728026" y="6099757"/>
            <a:ext cx="106104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3561"/>
              <a:buFont typeface="Fraunces ExtraBold"/>
              <a:buNone/>
            </a:pPr>
            <a:r>
              <a:rPr lang="en-US" sz="3000">
                <a:solidFill>
                  <a:srgbClr val="22222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Deploy as a clinical decision support tool</a:t>
            </a:r>
            <a:endParaRPr sz="3000">
              <a:solidFill>
                <a:srgbClr val="22222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1743949" y="6657796"/>
            <a:ext cx="11172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832"/>
              <a:buFont typeface="Nobile"/>
              <a:buNone/>
            </a:pPr>
            <a:r>
              <a:rPr lang="en-US" sz="1800">
                <a:solidFill>
                  <a:srgbClr val="222222"/>
                </a:solidFill>
                <a:latin typeface="Inconsolata"/>
                <a:ea typeface="Inconsolata"/>
                <a:cs typeface="Inconsolata"/>
                <a:sym typeface="Inconsolata"/>
              </a:rPr>
              <a:t>Extend the current prototype into a real-time triage support system to assist emergency departments in early admission decisions.</a:t>
            </a:r>
            <a:endParaRPr sz="1800">
              <a:solidFill>
                <a:srgbClr val="22222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238" name="Google Shape;23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9101" y="7239000"/>
            <a:ext cx="1871300" cy="99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10"/>
          <p:cNvCxnSpPr/>
          <p:nvPr/>
        </p:nvCxnSpPr>
        <p:spPr>
          <a:xfrm flipH="1" rot="10800000">
            <a:off x="728993" y="1563324"/>
            <a:ext cx="825000" cy="16500"/>
          </a:xfrm>
          <a:prstGeom prst="straightConnector1">
            <a:avLst/>
          </a:prstGeom>
          <a:noFill/>
          <a:ln cap="flat" cmpd="sng" w="3082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96c0b1d6d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9101" y="7239000"/>
            <a:ext cx="1871300" cy="990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g396c0b1d6d6_0_118"/>
          <p:cNvGrpSpPr/>
          <p:nvPr/>
        </p:nvGrpSpPr>
        <p:grpSpPr>
          <a:xfrm>
            <a:off x="675763" y="12452"/>
            <a:ext cx="4324023" cy="5050398"/>
            <a:chOff x="410349" y="12446"/>
            <a:chExt cx="2625712" cy="3066795"/>
          </a:xfrm>
        </p:grpSpPr>
        <p:sp>
          <p:nvSpPr>
            <p:cNvPr id="247" name="Google Shape;247;g396c0b1d6d6_0_118"/>
            <p:cNvSpPr/>
            <p:nvPr/>
          </p:nvSpPr>
          <p:spPr>
            <a:xfrm>
              <a:off x="410349" y="12446"/>
              <a:ext cx="1456055" cy="1019175"/>
            </a:xfrm>
            <a:custGeom>
              <a:rect b="b" l="l" r="r" t="t"/>
              <a:pathLst>
                <a:path extrusionOk="0" h="1019175" w="1456055">
                  <a:moveTo>
                    <a:pt x="1236332" y="0"/>
                  </a:moveTo>
                  <a:lnTo>
                    <a:pt x="219227" y="0"/>
                  </a:lnTo>
                  <a:lnTo>
                    <a:pt x="0" y="385825"/>
                  </a:lnTo>
                  <a:lnTo>
                    <a:pt x="359905" y="1019175"/>
                  </a:lnTo>
                  <a:lnTo>
                    <a:pt x="1095616" y="1019175"/>
                  </a:lnTo>
                  <a:lnTo>
                    <a:pt x="1455534" y="385825"/>
                  </a:lnTo>
                  <a:lnTo>
                    <a:pt x="1236332" y="0"/>
                  </a:lnTo>
                  <a:close/>
                </a:path>
              </a:pathLst>
            </a:custGeom>
            <a:solidFill>
              <a:srgbClr val="C9DA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6"/>
            </a:p>
          </p:txBody>
        </p:sp>
        <p:sp>
          <p:nvSpPr>
            <p:cNvPr id="248" name="Google Shape;248;g396c0b1d6d6_0_118"/>
            <p:cNvSpPr/>
            <p:nvPr/>
          </p:nvSpPr>
          <p:spPr>
            <a:xfrm>
              <a:off x="1579498" y="449961"/>
              <a:ext cx="1456055" cy="1266825"/>
            </a:xfrm>
            <a:custGeom>
              <a:rect b="b" l="l" r="r" t="t"/>
              <a:pathLst>
                <a:path extrusionOk="0" h="1266825" w="1456055">
                  <a:moveTo>
                    <a:pt x="1095628" y="0"/>
                  </a:moveTo>
                  <a:lnTo>
                    <a:pt x="359918" y="0"/>
                  </a:lnTo>
                  <a:lnTo>
                    <a:pt x="0" y="633349"/>
                  </a:lnTo>
                  <a:lnTo>
                    <a:pt x="359918" y="1266698"/>
                  </a:lnTo>
                  <a:lnTo>
                    <a:pt x="1095628" y="1266698"/>
                  </a:lnTo>
                  <a:lnTo>
                    <a:pt x="1455546" y="633349"/>
                  </a:lnTo>
                  <a:lnTo>
                    <a:pt x="1095628" y="0"/>
                  </a:ln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6"/>
            </a:p>
          </p:txBody>
        </p:sp>
        <p:sp>
          <p:nvSpPr>
            <p:cNvPr id="249" name="Google Shape;249;g396c0b1d6d6_0_118"/>
            <p:cNvSpPr/>
            <p:nvPr/>
          </p:nvSpPr>
          <p:spPr>
            <a:xfrm>
              <a:off x="412216" y="1136523"/>
              <a:ext cx="1456055" cy="1266825"/>
            </a:xfrm>
            <a:custGeom>
              <a:rect b="b" l="l" r="r" t="t"/>
              <a:pathLst>
                <a:path extrusionOk="0" h="1266825" w="1456055">
                  <a:moveTo>
                    <a:pt x="1095654" y="0"/>
                  </a:moveTo>
                  <a:lnTo>
                    <a:pt x="359905" y="0"/>
                  </a:lnTo>
                  <a:lnTo>
                    <a:pt x="0" y="633349"/>
                  </a:lnTo>
                  <a:lnTo>
                    <a:pt x="359905" y="1266698"/>
                  </a:lnTo>
                  <a:lnTo>
                    <a:pt x="1095654" y="1266698"/>
                  </a:lnTo>
                  <a:lnTo>
                    <a:pt x="1455572" y="633349"/>
                  </a:lnTo>
                  <a:lnTo>
                    <a:pt x="1095654" y="0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6"/>
            </a:p>
          </p:txBody>
        </p:sp>
        <p:sp>
          <p:nvSpPr>
            <p:cNvPr id="250" name="Google Shape;250;g396c0b1d6d6_0_118"/>
            <p:cNvSpPr/>
            <p:nvPr/>
          </p:nvSpPr>
          <p:spPr>
            <a:xfrm>
              <a:off x="1580006" y="1812416"/>
              <a:ext cx="1456055" cy="1266825"/>
            </a:xfrm>
            <a:custGeom>
              <a:rect b="b" l="l" r="r" t="t"/>
              <a:pathLst>
                <a:path extrusionOk="0" h="1266825" w="1456055">
                  <a:moveTo>
                    <a:pt x="1095629" y="0"/>
                  </a:moveTo>
                  <a:lnTo>
                    <a:pt x="359918" y="0"/>
                  </a:lnTo>
                  <a:lnTo>
                    <a:pt x="0" y="633349"/>
                  </a:lnTo>
                  <a:lnTo>
                    <a:pt x="359918" y="1266698"/>
                  </a:lnTo>
                  <a:lnTo>
                    <a:pt x="1095629" y="1266698"/>
                  </a:lnTo>
                  <a:lnTo>
                    <a:pt x="1455547" y="633349"/>
                  </a:lnTo>
                  <a:lnTo>
                    <a:pt x="1095629" y="0"/>
                  </a:ln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6"/>
            </a:p>
          </p:txBody>
        </p:sp>
      </p:grpSp>
      <p:grpSp>
        <p:nvGrpSpPr>
          <p:cNvPr id="251" name="Google Shape;251;g396c0b1d6d6_0_118"/>
          <p:cNvGrpSpPr/>
          <p:nvPr/>
        </p:nvGrpSpPr>
        <p:grpSpPr>
          <a:xfrm>
            <a:off x="2602576" y="2899116"/>
            <a:ext cx="4327598" cy="2655957"/>
            <a:chOff x="2783967" y="5245480"/>
            <a:chExt cx="2627883" cy="1612799"/>
          </a:xfrm>
        </p:grpSpPr>
        <p:sp>
          <p:nvSpPr>
            <p:cNvPr id="252" name="Google Shape;252;g396c0b1d6d6_0_118"/>
            <p:cNvSpPr/>
            <p:nvPr/>
          </p:nvSpPr>
          <p:spPr>
            <a:xfrm>
              <a:off x="3955796" y="5952134"/>
              <a:ext cx="1456054" cy="906145"/>
            </a:xfrm>
            <a:custGeom>
              <a:rect b="b" l="l" r="r" t="t"/>
              <a:pathLst>
                <a:path extrusionOk="0" h="906145" w="1456054">
                  <a:moveTo>
                    <a:pt x="1095628" y="0"/>
                  </a:moveTo>
                  <a:lnTo>
                    <a:pt x="359917" y="0"/>
                  </a:lnTo>
                  <a:lnTo>
                    <a:pt x="0" y="633348"/>
                  </a:lnTo>
                  <a:lnTo>
                    <a:pt x="154881" y="905865"/>
                  </a:lnTo>
                  <a:lnTo>
                    <a:pt x="1300665" y="905865"/>
                  </a:lnTo>
                  <a:lnTo>
                    <a:pt x="1455546" y="633348"/>
                  </a:lnTo>
                  <a:lnTo>
                    <a:pt x="1095628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6"/>
            </a:p>
          </p:txBody>
        </p:sp>
        <p:sp>
          <p:nvSpPr>
            <p:cNvPr id="253" name="Google Shape;253;g396c0b1d6d6_0_118"/>
            <p:cNvSpPr/>
            <p:nvPr/>
          </p:nvSpPr>
          <p:spPr>
            <a:xfrm>
              <a:off x="2783967" y="5245480"/>
              <a:ext cx="1456054" cy="1266825"/>
            </a:xfrm>
            <a:custGeom>
              <a:rect b="b" l="l" r="r" t="t"/>
              <a:pathLst>
                <a:path extrusionOk="0" h="1266825" w="1456054">
                  <a:moveTo>
                    <a:pt x="1095629" y="0"/>
                  </a:moveTo>
                  <a:lnTo>
                    <a:pt x="359918" y="0"/>
                  </a:lnTo>
                  <a:lnTo>
                    <a:pt x="0" y="633310"/>
                  </a:lnTo>
                  <a:lnTo>
                    <a:pt x="359918" y="1266659"/>
                  </a:lnTo>
                  <a:lnTo>
                    <a:pt x="1095629" y="1266659"/>
                  </a:lnTo>
                  <a:lnTo>
                    <a:pt x="1455546" y="633310"/>
                  </a:lnTo>
                  <a:lnTo>
                    <a:pt x="1095629" y="0"/>
                  </a:lnTo>
                  <a:close/>
                </a:path>
              </a:pathLst>
            </a:custGeom>
            <a:solidFill>
              <a:srgbClr val="6FA8D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6"/>
            </a:p>
          </p:txBody>
        </p:sp>
      </p:grpSp>
      <p:sp>
        <p:nvSpPr>
          <p:cNvPr id="254" name="Google Shape;254;g396c0b1d6d6_0_118"/>
          <p:cNvSpPr/>
          <p:nvPr/>
        </p:nvSpPr>
        <p:spPr>
          <a:xfrm>
            <a:off x="4533428" y="4047486"/>
            <a:ext cx="2397804" cy="2087094"/>
          </a:xfrm>
          <a:custGeom>
            <a:rect b="b" l="l" r="r" t="t"/>
            <a:pathLst>
              <a:path extrusionOk="0" h="1266825" w="1455420">
                <a:moveTo>
                  <a:pt x="1095502" y="0"/>
                </a:moveTo>
                <a:lnTo>
                  <a:pt x="359791" y="0"/>
                </a:lnTo>
                <a:lnTo>
                  <a:pt x="0" y="633349"/>
                </a:lnTo>
                <a:lnTo>
                  <a:pt x="359791" y="1266698"/>
                </a:lnTo>
                <a:lnTo>
                  <a:pt x="1095502" y="1266698"/>
                </a:lnTo>
                <a:lnTo>
                  <a:pt x="1455420" y="633349"/>
                </a:lnTo>
                <a:lnTo>
                  <a:pt x="1095502" y="0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6"/>
          </a:p>
        </p:txBody>
      </p:sp>
      <p:sp>
        <p:nvSpPr>
          <p:cNvPr id="255" name="Google Shape;255;g396c0b1d6d6_0_118"/>
          <p:cNvSpPr/>
          <p:nvPr/>
        </p:nvSpPr>
        <p:spPr>
          <a:xfrm>
            <a:off x="6096" y="730028"/>
            <a:ext cx="1119394" cy="2087094"/>
          </a:xfrm>
          <a:custGeom>
            <a:rect b="b" l="l" r="r" t="t"/>
            <a:pathLst>
              <a:path extrusionOk="0" h="1266825" w="679450">
                <a:moveTo>
                  <a:pt x="0" y="0"/>
                </a:moveTo>
                <a:lnTo>
                  <a:pt x="318966" y="0"/>
                </a:lnTo>
                <a:lnTo>
                  <a:pt x="678872" y="633349"/>
                </a:lnTo>
                <a:lnTo>
                  <a:pt x="318966" y="1266697"/>
                </a:lnTo>
                <a:lnTo>
                  <a:pt x="0" y="1266697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1375">
            <a:solidFill>
              <a:srgbClr val="0E2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6"/>
          </a:p>
        </p:txBody>
      </p:sp>
      <p:sp>
        <p:nvSpPr>
          <p:cNvPr id="256" name="Google Shape;256;g396c0b1d6d6_0_118"/>
          <p:cNvSpPr/>
          <p:nvPr/>
        </p:nvSpPr>
        <p:spPr>
          <a:xfrm>
            <a:off x="2602601" y="5233329"/>
            <a:ext cx="2398851" cy="2087094"/>
          </a:xfrm>
          <a:custGeom>
            <a:rect b="b" l="l" r="r" t="t"/>
            <a:pathLst>
              <a:path extrusionOk="0" h="1266825" w="1456055">
                <a:moveTo>
                  <a:pt x="0" y="633348"/>
                </a:moveTo>
                <a:lnTo>
                  <a:pt x="359918" y="0"/>
                </a:lnTo>
                <a:lnTo>
                  <a:pt x="1095629" y="0"/>
                </a:lnTo>
                <a:lnTo>
                  <a:pt x="1455547" y="633348"/>
                </a:lnTo>
                <a:lnTo>
                  <a:pt x="1095629" y="1266697"/>
                </a:lnTo>
                <a:lnTo>
                  <a:pt x="359918" y="1266697"/>
                </a:lnTo>
                <a:lnTo>
                  <a:pt x="0" y="633348"/>
                </a:lnTo>
                <a:close/>
              </a:path>
            </a:pathLst>
          </a:custGeom>
          <a:noFill/>
          <a:ln cap="flat" cmpd="sng" w="313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6"/>
          </a:p>
        </p:txBody>
      </p:sp>
      <p:grpSp>
        <p:nvGrpSpPr>
          <p:cNvPr id="257" name="Google Shape;257;g396c0b1d6d6_0_118"/>
          <p:cNvGrpSpPr/>
          <p:nvPr/>
        </p:nvGrpSpPr>
        <p:grpSpPr>
          <a:xfrm>
            <a:off x="0" y="2981035"/>
            <a:ext cx="3058014" cy="3240470"/>
            <a:chOff x="0" y="1815083"/>
            <a:chExt cx="1856943" cy="1967737"/>
          </a:xfrm>
        </p:grpSpPr>
        <p:sp>
          <p:nvSpPr>
            <p:cNvPr id="258" name="Google Shape;258;g396c0b1d6d6_0_118"/>
            <p:cNvSpPr/>
            <p:nvPr/>
          </p:nvSpPr>
          <p:spPr>
            <a:xfrm>
              <a:off x="0" y="1815083"/>
              <a:ext cx="691515" cy="1266825"/>
            </a:xfrm>
            <a:custGeom>
              <a:rect b="b" l="l" r="r" t="t"/>
              <a:pathLst>
                <a:path extrusionOk="0" h="1266825" w="691515">
                  <a:moveTo>
                    <a:pt x="0" y="425713"/>
                  </a:moveTo>
                  <a:lnTo>
                    <a:pt x="572" y="361773"/>
                  </a:lnTo>
                  <a:lnTo>
                    <a:pt x="977" y="311510"/>
                  </a:lnTo>
                  <a:lnTo>
                    <a:pt x="1339" y="261203"/>
                  </a:lnTo>
                  <a:lnTo>
                    <a:pt x="1650" y="210845"/>
                  </a:lnTo>
                  <a:lnTo>
                    <a:pt x="1904" y="160428"/>
                  </a:lnTo>
                  <a:lnTo>
                    <a:pt x="2094" y="109947"/>
                  </a:lnTo>
                  <a:lnTo>
                    <a:pt x="2212" y="59394"/>
                  </a:lnTo>
                  <a:lnTo>
                    <a:pt x="2253" y="8762"/>
                  </a:lnTo>
                  <a:lnTo>
                    <a:pt x="331000" y="0"/>
                  </a:lnTo>
                  <a:lnTo>
                    <a:pt x="690905" y="633349"/>
                  </a:lnTo>
                  <a:lnTo>
                    <a:pt x="331000" y="1266698"/>
                  </a:lnTo>
                  <a:lnTo>
                    <a:pt x="0" y="1266698"/>
                  </a:lnTo>
                </a:path>
              </a:pathLst>
            </a:custGeom>
            <a:noFill/>
            <a:ln cap="flat" cmpd="sng" w="31375">
              <a:solidFill>
                <a:srgbClr val="D5DF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6"/>
            </a:p>
          </p:txBody>
        </p:sp>
        <p:pic>
          <p:nvPicPr>
            <p:cNvPr id="259" name="Google Shape;259;g396c0b1d6d6_0_1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1109" y="2493390"/>
              <a:ext cx="1465834" cy="12894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0" name="Google Shape;260;g396c0b1d6d6_0_118"/>
          <p:cNvSpPr txBox="1"/>
          <p:nvPr/>
        </p:nvSpPr>
        <p:spPr>
          <a:xfrm>
            <a:off x="8056555" y="2816250"/>
            <a:ext cx="5449200" cy="14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25">
            <a:spAutoFit/>
          </a:bodyPr>
          <a:lstStyle/>
          <a:p>
            <a:pPr indent="0" lvl="0" marL="2091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sz="9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g396c0b1d6d6_0_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3424" y="6133685"/>
            <a:ext cx="2396806" cy="2108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2026-04-01T02:01:16Z</dcterms:created>
</cp:coreProperties>
</file>